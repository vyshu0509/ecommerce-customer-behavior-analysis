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</p:sldMasterIdLst>
  <p:notesMasterIdLst>
    <p:notesMasterId r:id="rId14"/>
  </p:notesMasterIdLst>
  <p:sldIdLst>
    <p:sldId id="256" r:id="rId3"/>
    <p:sldId id="571" r:id="rId4"/>
    <p:sldId id="572" r:id="rId5"/>
    <p:sldId id="573" r:id="rId6"/>
    <p:sldId id="574" r:id="rId7"/>
    <p:sldId id="575" r:id="rId8"/>
    <p:sldId id="576" r:id="rId9"/>
    <p:sldId id="577" r:id="rId10"/>
    <p:sldId id="579" r:id="rId11"/>
    <p:sldId id="578" r:id="rId12"/>
    <p:sldId id="536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3818" autoAdjust="0"/>
  </p:normalViewPr>
  <p:slideViewPr>
    <p:cSldViewPr snapToGrid="0">
      <p:cViewPr varScale="1">
        <p:scale>
          <a:sx n="39" d="100"/>
          <a:sy n="39" d="100"/>
        </p:scale>
        <p:origin x="-76" y="648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3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266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8B07-5A8B-12D3-48D5-B8315D13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B6700-05A0-7411-109E-A374569B6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8D759-B238-4D1C-A179-63DF885F6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31F17-191B-CFE4-28A8-DF229B949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854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062684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909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4273-D1B2-B5DA-BF7E-9FF169DF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EE723-48AC-C184-D51D-DB184D9E4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A217C-58BE-CEDC-FE42-FFECCA16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67DFB-4595-5610-E73D-EA112439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188B-8994-FE2D-E924-64F2FB54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92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9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85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10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22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87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74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E36FD2-5CF9-42B6-267C-75A9A8826A1C}"/>
              </a:ext>
            </a:extLst>
          </p:cNvPr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F6CF07-40A9-24A4-F336-0BDA8D93267D}"/>
              </a:ext>
            </a:extLst>
          </p:cNvPr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66C649D9-DD8B-5B7D-F409-A3797AEF3D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  <p:extLst>
      <p:ext uri="{BB962C8B-B14F-4D97-AF65-F5344CB8AC3E}">
        <p14:creationId xmlns:p14="http://schemas.microsoft.com/office/powerpoint/2010/main" val="347897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5" r:id="rId2"/>
    <p:sldLayoutId id="2147483666" r:id="rId3"/>
    <p:sldLayoutId id="2147483667" r:id="rId4"/>
    <p:sldLayoutId id="214748366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179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40A069D-B6C2-7B0A-6719-9C65A27E0952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C78EFA-3B33-383D-31A6-F48EC0533950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DD7732-9B23-40F7-1FF7-FD50BDC193D8}"/>
              </a:ext>
            </a:extLst>
          </p:cNvPr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DA2A85-6D5C-2987-0FF8-3AF240456D3B}"/>
              </a:ext>
            </a:extLst>
          </p:cNvPr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4D362339-2CD4-BEA9-8BCD-81A300A3C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837936-4230-3A98-A2A1-6E77E027B36D}"/>
              </a:ext>
            </a:extLst>
          </p:cNvPr>
          <p:cNvSpPr>
            <a:spLocks noGrp="1"/>
          </p:cNvSpPr>
          <p:nvPr/>
        </p:nvSpPr>
        <p:spPr>
          <a:xfrm>
            <a:off x="517379" y="1343054"/>
            <a:ext cx="4746772" cy="25067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kern="1200" dirty="0">
                <a:latin typeface="+mj-lt"/>
                <a:ea typeface="+mj-ea"/>
                <a:cs typeface="+mj-cs"/>
              </a:rPr>
              <a:t>CAPSTONE </a:t>
            </a:r>
            <a:r>
              <a:rPr lang="en-US" sz="2800" b="1" dirty="0"/>
              <a:t>PROJECT</a:t>
            </a:r>
            <a:endParaRPr lang="en-US" sz="5100" dirty="0">
              <a:latin typeface="Aptos"/>
            </a:endParaRPr>
          </a:p>
          <a:p>
            <a:pPr algn="l"/>
            <a:br>
              <a:rPr lang="en-US" sz="5100" b="1" dirty="0"/>
            </a:br>
            <a:r>
              <a:rPr lang="en-US" sz="3000" b="1" dirty="0"/>
              <a:t>Customer Behavior Analysis</a:t>
            </a:r>
            <a:endParaRPr lang="en-US" sz="3000" dirty="0">
              <a:latin typeface="Aptos"/>
            </a:endParaRPr>
          </a:p>
          <a:p>
            <a:pPr algn="l"/>
            <a:endParaRPr lang="en-US" sz="5100" b="1" kern="12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663A0C-3931-F8E6-391C-2FF1FDBB09CD}"/>
              </a:ext>
            </a:extLst>
          </p:cNvPr>
          <p:cNvSpPr>
            <a:spLocks noGrp="1"/>
          </p:cNvSpPr>
          <p:nvPr/>
        </p:nvSpPr>
        <p:spPr>
          <a:xfrm>
            <a:off x="594127" y="3739889"/>
            <a:ext cx="4166512" cy="19155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By: Gunda Sri Vyshnavi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Gunda Sri </a:t>
            </a:r>
            <a:r>
              <a:rPr lang="en-US" sz="1600" b="1" cap="all" dirty="0" err="1"/>
              <a:t>vyshnavi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</a:t>
            </a:r>
            <a:r>
              <a:rPr lang="en-US" sz="1600" b="1" cap="all" dirty="0" err="1"/>
              <a:t>kitsw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 it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 b23it057@kitsw.ac.in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288F3F-AD4C-81EA-1336-D2C00EFCC4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90" y="963029"/>
            <a:ext cx="4590784" cy="49364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A3612B7-3139-1EBA-8EAA-394A3397CE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990" y="188005"/>
            <a:ext cx="4590784" cy="58492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033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0E59-694D-9DFE-4488-37D5F2F4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/>
                <a:cs typeface="Arial"/>
              </a:rPr>
              <a:t>OUTLINE: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173D-62A9-AF06-B476-EEB82708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Problem Statement 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Proposed System/Solution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System Development Approach </a:t>
            </a:r>
            <a:r>
              <a:rPr lang="en-US" sz="2200" dirty="0">
                <a:latin typeface="Arial"/>
                <a:cs typeface="Arial"/>
              </a:rPr>
              <a:t>(Technology Used) 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Algorithm &amp; Deployment  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Result (Output Image)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Conclusion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Future Scope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References</a:t>
            </a:r>
            <a:endParaRPr lang="en-US" sz="2200" dirty="0">
              <a:latin typeface="Arial"/>
              <a:cs typeface="Arial"/>
            </a:endParaRPr>
          </a:p>
          <a:p>
            <a:endParaRPr lang="en-GB" sz="2200" dirty="0">
              <a:latin typeface="Aptos" panose="020B00040202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787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9B35C-A00A-C6C7-8532-576758ED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Problem Statement: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8C97F-5AC9-F1CA-3CCC-090D5B139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2" y="171507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/>
              <a:t>E-commerce platforms generate massive customer data, but businesses struggle to:</a:t>
            </a:r>
          </a:p>
          <a:p>
            <a:r>
              <a:rPr lang="en-US" sz="2400" dirty="0"/>
              <a:t>Understand buying behavior </a:t>
            </a:r>
          </a:p>
          <a:p>
            <a:r>
              <a:rPr lang="en-US" sz="2400" dirty="0"/>
              <a:t>Identify high-value customers </a:t>
            </a:r>
          </a:p>
          <a:p>
            <a:r>
              <a:rPr lang="en-US" sz="2400" dirty="0"/>
              <a:t>Improve personalization </a:t>
            </a:r>
          </a:p>
          <a:p>
            <a:r>
              <a:rPr lang="en-US" sz="2400" dirty="0"/>
              <a:t>Reduce cart abandonment </a:t>
            </a:r>
          </a:p>
          <a:p>
            <a:r>
              <a:rPr lang="en-US" sz="2400" dirty="0"/>
              <a:t>There is a need to analyze customer interactions to improve sales and engagement.</a:t>
            </a:r>
          </a:p>
        </p:txBody>
      </p:sp>
    </p:spTree>
    <p:extLst>
      <p:ext uri="{BB962C8B-B14F-4D97-AF65-F5344CB8AC3E}">
        <p14:creationId xmlns:p14="http://schemas.microsoft.com/office/powerpoint/2010/main" val="337291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7B4B1-584E-2479-D762-2265C7398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Proposed Solution:</a:t>
            </a:r>
            <a:endParaRPr lang="en-US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665675-A188-922A-2E13-E6EFD4A75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04C341-DB3A-5B40-8F36-1E79C90845C3}"/>
              </a:ext>
            </a:extLst>
          </p:cNvPr>
          <p:cNvSpPr txBox="1"/>
          <p:nvPr/>
        </p:nvSpPr>
        <p:spPr>
          <a:xfrm>
            <a:off x="484632" y="1554480"/>
            <a:ext cx="113842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project focuses on analyzing customer behavior using data analytics techniques.</a:t>
            </a:r>
          </a:p>
          <a:p>
            <a:endParaRPr lang="en-US" dirty="0"/>
          </a:p>
          <a:p>
            <a:r>
              <a:rPr lang="en-US" b="1" dirty="0"/>
              <a:t>Approach: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Study customer purchase patterns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trends in user activity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Segment customers based on behavior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basic ML models to predict purchase likelihood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3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92D15-41B4-89C1-0EA3-03BC9FA1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System  Approach: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7E8EE-7F26-D809-3523-C58876935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409" y="1715586"/>
            <a:ext cx="10515600" cy="4251960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r>
              <a:rPr lang="en-IN" sz="2400" b="1" dirty="0"/>
              <a:t>Type:</a:t>
            </a:r>
            <a:r>
              <a:rPr lang="en-IN" sz="2400" dirty="0"/>
              <a:t> Analytical / Case Study Based</a:t>
            </a:r>
          </a:p>
          <a:p>
            <a:r>
              <a:rPr lang="en-IN" sz="2400" b="1" dirty="0"/>
              <a:t>Tools Used:</a:t>
            </a:r>
            <a:endParaRPr lang="en-IN" sz="2400" dirty="0"/>
          </a:p>
          <a:p>
            <a:r>
              <a:rPr lang="en-IN" sz="2400" dirty="0"/>
              <a:t>Excel / Google Sheets (for analysis) </a:t>
            </a:r>
          </a:p>
          <a:p>
            <a:r>
              <a:rPr lang="en-IN" sz="2400" dirty="0"/>
              <a:t>Python (conceptual understanding) </a:t>
            </a:r>
          </a:p>
          <a:p>
            <a:r>
              <a:rPr lang="en-IN" sz="2400" dirty="0"/>
              <a:t>Visualization tools </a:t>
            </a:r>
          </a:p>
          <a:p>
            <a:r>
              <a:rPr lang="en-IN" sz="2400" b="1" dirty="0"/>
              <a:t>Steps:</a:t>
            </a:r>
            <a:endParaRPr lang="en-IN" sz="2400" dirty="0"/>
          </a:p>
          <a:p>
            <a:r>
              <a:rPr lang="en-IN" sz="2400" dirty="0"/>
              <a:t>Data collection (sample dataset) </a:t>
            </a:r>
          </a:p>
          <a:p>
            <a:r>
              <a:rPr lang="en-IN" sz="2400" dirty="0"/>
              <a:t>Data cleaning </a:t>
            </a:r>
          </a:p>
          <a:p>
            <a:r>
              <a:rPr lang="en-IN" sz="2400" dirty="0"/>
              <a:t>Exploratory Data Analysis (EDA) </a:t>
            </a:r>
          </a:p>
          <a:p>
            <a:r>
              <a:rPr lang="en-IN" sz="2400" dirty="0"/>
              <a:t>Pattern identification </a:t>
            </a:r>
          </a:p>
          <a:p>
            <a:r>
              <a:rPr lang="en-IN" sz="2400" dirty="0"/>
              <a:t>Basic prediction model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50112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BEE6-616C-2711-86DB-C62E77D1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Algorithm &amp; Deployment: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07410-DE3D-5F62-F9D7-11EAEA92F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572196"/>
            <a:ext cx="11565636" cy="51395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 b="1" dirty="0"/>
              <a:t>Algorithm (Conceptual):</a:t>
            </a:r>
            <a:endParaRPr lang="en-US" sz="1600" dirty="0"/>
          </a:p>
          <a:p>
            <a:r>
              <a:rPr lang="en-US" sz="1600" dirty="0"/>
              <a:t>Random Forest / Logistic Regression </a:t>
            </a:r>
          </a:p>
          <a:p>
            <a:r>
              <a:rPr lang="en-US" sz="1600" b="1" dirty="0"/>
              <a:t>What it does:</a:t>
            </a:r>
            <a:endParaRPr lang="en-US" sz="1600" dirty="0"/>
          </a:p>
          <a:p>
            <a:r>
              <a:rPr lang="en-US" sz="1600" dirty="0"/>
              <a:t>Classifies whether a customer will purchase or not </a:t>
            </a:r>
          </a:p>
          <a:p>
            <a:r>
              <a:rPr lang="en-US" sz="1600" b="1" dirty="0"/>
              <a:t>Deployment (Conceptual):</a:t>
            </a:r>
            <a:endParaRPr lang="en-US" sz="1600" dirty="0"/>
          </a:p>
          <a:p>
            <a:r>
              <a:rPr lang="en-US" sz="1600" dirty="0"/>
              <a:t>Can be integrated into e-commerce platforms </a:t>
            </a:r>
          </a:p>
          <a:p>
            <a:r>
              <a:rPr lang="en-US" sz="1600" dirty="0"/>
              <a:t>Used for recommendation systems 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9908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Result: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02C9B-C4AF-D0DB-DE74-862D98120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7" y="1584103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b="1" dirty="0"/>
              <a:t>Findings:</a:t>
            </a:r>
            <a:endParaRPr lang="en-US" sz="2400" dirty="0"/>
          </a:p>
          <a:p>
            <a:r>
              <a:rPr lang="en-US" sz="2400" dirty="0"/>
              <a:t>Frequent users are more likely to purchase </a:t>
            </a:r>
          </a:p>
          <a:p>
            <a:r>
              <a:rPr lang="en-US" sz="2400" dirty="0"/>
              <a:t>Discounts increase conversion rate </a:t>
            </a:r>
          </a:p>
          <a:p>
            <a:r>
              <a:rPr lang="en-US" sz="2400" dirty="0"/>
              <a:t>Certain categories have higher demand </a:t>
            </a:r>
          </a:p>
          <a:p>
            <a:r>
              <a:rPr lang="en-US" sz="2400" b="1" dirty="0"/>
              <a:t>Expected Accuracy:</a:t>
            </a:r>
            <a:r>
              <a:rPr lang="en-US" sz="2400" dirty="0"/>
              <a:t> ~85%</a:t>
            </a:r>
          </a:p>
          <a:p>
            <a:r>
              <a:rPr lang="en-US" sz="2400" b="1" dirty="0"/>
              <a:t>Business Impact:</a:t>
            </a:r>
            <a:endParaRPr lang="en-US" sz="2400" dirty="0"/>
          </a:p>
          <a:p>
            <a:r>
              <a:rPr lang="en-US" sz="2400" dirty="0"/>
              <a:t>Better targeting of customers </a:t>
            </a:r>
          </a:p>
          <a:p>
            <a:r>
              <a:rPr lang="en-US" sz="2400" dirty="0"/>
              <a:t>Increased sales </a:t>
            </a:r>
          </a:p>
          <a:p>
            <a:r>
              <a:rPr lang="en-US" sz="2400" dirty="0"/>
              <a:t>Improved customer experience</a:t>
            </a:r>
          </a:p>
        </p:txBody>
      </p:sp>
    </p:spTree>
    <p:extLst>
      <p:ext uri="{BB962C8B-B14F-4D97-AF65-F5344CB8AC3E}">
        <p14:creationId xmlns:p14="http://schemas.microsoft.com/office/powerpoint/2010/main" val="58742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96BB-D4E8-514D-53F4-27AADA66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Conclusion: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89DDB-698E-B624-5621-F9D79482F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036" y="1786982"/>
            <a:ext cx="10637059" cy="462296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/>
              <a:t>Customer behavior analysis is crucial in e-commerce </a:t>
            </a:r>
          </a:p>
          <a:p>
            <a:r>
              <a:rPr lang="en-US" sz="2400" dirty="0"/>
              <a:t>Helps businesses make data-driven decisions </a:t>
            </a:r>
          </a:p>
          <a:p>
            <a:r>
              <a:rPr lang="en-US" sz="2400" dirty="0"/>
              <a:t>Improves marketing and sales strategies </a:t>
            </a:r>
          </a:p>
        </p:txBody>
      </p:sp>
    </p:spTree>
    <p:extLst>
      <p:ext uri="{BB962C8B-B14F-4D97-AF65-F5344CB8AC3E}">
        <p14:creationId xmlns:p14="http://schemas.microsoft.com/office/powerpoint/2010/main" val="2245309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403C0-6D6C-CF0D-D01B-94F3DED1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Future scope:</a:t>
            </a:r>
            <a:endParaRPr lang="en-US" sz="40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BADCF33-C3AC-036E-9FA2-66E78E7EE4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120" y="1547115"/>
            <a:ext cx="669029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recommendation engines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analytics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shopping experience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mobile apps </a:t>
            </a:r>
          </a:p>
        </p:txBody>
      </p:sp>
    </p:spTree>
    <p:extLst>
      <p:ext uri="{BB962C8B-B14F-4D97-AF65-F5344CB8AC3E}">
        <p14:creationId xmlns:p14="http://schemas.microsoft.com/office/powerpoint/2010/main" val="3744199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D7BEC-26CE-96DB-DC10-B2897FA5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References: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198D1-2392-A218-1A4C-10F40FCB8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04" y="1551125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IN" sz="2200" dirty="0">
              <a:latin typeface="Franklin Gothic Book"/>
            </a:endParaRPr>
          </a:p>
          <a:p>
            <a:r>
              <a:rPr lang="en-IN" sz="2200" dirty="0">
                <a:latin typeface="Franklin Gothic Book"/>
              </a:rPr>
              <a:t>Online datasets (Kaggle)</a:t>
            </a:r>
          </a:p>
          <a:p>
            <a:r>
              <a:rPr lang="en-IN" sz="2200" dirty="0">
                <a:latin typeface="Franklin Gothic Book"/>
              </a:rPr>
              <a:t>Articles on e-commerce analytics</a:t>
            </a:r>
          </a:p>
          <a:p>
            <a:r>
              <a:rPr lang="en-IN" sz="2200" dirty="0">
                <a:latin typeface="Franklin Gothic Book"/>
              </a:rPr>
              <a:t>Course materials</a:t>
            </a:r>
          </a:p>
          <a:p>
            <a:pPr marL="0" indent="0">
              <a:buNone/>
            </a:pPr>
            <a:endParaRPr lang="en-IN" sz="2200" dirty="0">
              <a:latin typeface="Franklin Gothic Book"/>
            </a:endParaRPr>
          </a:p>
          <a:p>
            <a:pPr marL="0" indent="0">
              <a:buNone/>
            </a:pPr>
            <a:endParaRPr lang="en-IN" sz="2200" dirty="0">
              <a:latin typeface="Franklin Gothic Book"/>
            </a:endParaRPr>
          </a:p>
          <a:p>
            <a:pPr marL="0" indent="0">
              <a:buNone/>
            </a:pPr>
            <a:r>
              <a:rPr lang="en-IN" sz="2200" dirty="0">
                <a:latin typeface="Franklin Gothic Book"/>
              </a:rPr>
              <a:t>GitHub Link:</a:t>
            </a:r>
            <a:r>
              <a:rPr lang="en-IN" sz="2200" dirty="0">
                <a:solidFill>
                  <a:srgbClr val="0070C0"/>
                </a:solidFill>
                <a:latin typeface="Franklin Gothic Book"/>
              </a:rPr>
              <a:t> </a:t>
            </a:r>
            <a:r>
              <a:rPr lang="en-IN" sz="2200" u="sng" dirty="0">
                <a:solidFill>
                  <a:srgbClr val="0070C0"/>
                </a:solidFill>
                <a:latin typeface="Franklin Gothic Book"/>
              </a:rPr>
              <a:t>https://github.com/vyshu0509/Ecommerce-Customer-Behavior-Analysis</a:t>
            </a:r>
          </a:p>
          <a:p>
            <a:pPr marL="0" indent="0">
              <a:buNone/>
            </a:pPr>
            <a:endParaRPr lang="en-IN" sz="2200" u="sng" dirty="0">
              <a:solidFill>
                <a:srgbClr val="0070C0"/>
              </a:solidFill>
              <a:latin typeface="Franklin Gothic Book"/>
            </a:endParaRPr>
          </a:p>
          <a:p>
            <a:pPr marL="0" indent="0">
              <a:buNone/>
            </a:pPr>
            <a:endParaRPr lang="en-IN" sz="2200" dirty="0"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1691700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43E5-DB51-E32C-9252-0ED5EF28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E97B5AD-3B10-086C-32EF-8A2EAD5287C2}"/>
              </a:ext>
            </a:extLst>
          </p:cNvPr>
          <p:cNvSpPr txBox="1">
            <a:spLocks/>
          </p:cNvSpPr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buFont typeface="Arial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FC7433E-E155-E68D-4C00-FCB38967C6F9}"/>
              </a:ext>
            </a:extLst>
          </p:cNvPr>
          <p:cNvSpPr txBox="1">
            <a:spLocks/>
          </p:cNvSpPr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/>
                <a:cs typeface="Arial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46020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330</Words>
  <Application>Microsoft Office PowerPoint</Application>
  <PresentationFormat>Widescreen</PresentationFormat>
  <Paragraphs>83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Franklin Gothic Book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 Approach:</vt:lpstr>
      <vt:lpstr>Algorithm &amp; Deployment:</vt:lpstr>
      <vt:lpstr>Result:</vt:lpstr>
      <vt:lpstr>Conclusion:</vt:lpstr>
      <vt:lpstr>Future scope:</vt:lpstr>
      <vt:lpstr>References: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Sri Vyshnavi Gunda</cp:lastModifiedBy>
  <cp:revision>101</cp:revision>
  <dcterms:created xsi:type="dcterms:W3CDTF">2024-05-21T11:55:07Z</dcterms:created>
  <dcterms:modified xsi:type="dcterms:W3CDTF">2026-03-22T16:15:04Z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</Properties>
</file>